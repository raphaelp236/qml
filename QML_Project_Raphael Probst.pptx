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7"/>
  </p:notesMasterIdLst>
  <p:sldIdLst>
    <p:sldId id="261" r:id="rId2"/>
    <p:sldId id="262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EE27BD-D46A-445A-AE6E-DC3DDD04111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F5E7EC-C7E7-4410-8791-5562D6F63B8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noProof="0" dirty="0" err="1"/>
            <a:t>Emotiv</a:t>
          </a:r>
          <a:r>
            <a:rPr lang="en-GB" b="1" noProof="0" dirty="0"/>
            <a:t> EPOC Hardware</a:t>
          </a:r>
        </a:p>
        <a:p>
          <a:pPr>
            <a:lnSpc>
              <a:spcPct val="100000"/>
            </a:lnSpc>
          </a:pPr>
          <a:r>
            <a:rPr lang="en-GB" noProof="0" dirty="0"/>
            <a:t>Utilizes 14 channels sampling at 128Hz frequency.</a:t>
          </a:r>
        </a:p>
      </dgm:t>
    </dgm:pt>
    <dgm:pt modelId="{BA8D42E6-4EB2-4E12-8433-64047B051C40}" type="parTrans" cxnId="{5BBE77D0-AEA3-4DC8-A1D7-099AC12FBC5F}">
      <dgm:prSet/>
      <dgm:spPr/>
      <dgm:t>
        <a:bodyPr/>
        <a:lstStyle/>
        <a:p>
          <a:endParaRPr lang="en-US"/>
        </a:p>
      </dgm:t>
    </dgm:pt>
    <dgm:pt modelId="{B52AA49A-8A9F-4B80-9D7A-7F688114A1A4}" type="sibTrans" cxnId="{5BBE77D0-AEA3-4DC8-A1D7-099AC12FBC5F}">
      <dgm:prSet/>
      <dgm:spPr/>
      <dgm:t>
        <a:bodyPr/>
        <a:lstStyle/>
        <a:p>
          <a:endParaRPr lang="en-US"/>
        </a:p>
      </dgm:t>
    </dgm:pt>
    <dgm:pt modelId="{F2089989-1E9C-49E6-9C88-384D0F0289F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noProof="0" dirty="0"/>
            <a:t>Scope Limit</a:t>
          </a:r>
        </a:p>
        <a:p>
          <a:pPr>
            <a:lnSpc>
              <a:spcPct val="100000"/>
            </a:lnSpc>
          </a:pPr>
          <a:r>
            <a:rPr lang="en-GB" noProof="0" dirty="0"/>
            <a:t>Focused strictly on digits 0–4 to establish a robust 5-class cognitive intent benchmark. </a:t>
          </a:r>
        </a:p>
      </dgm:t>
    </dgm:pt>
    <dgm:pt modelId="{A2EB6EF5-2223-4550-826A-F00A4EF52E3F}" type="parTrans" cxnId="{125A8A35-CBFC-4B18-82E8-4E4A6712FFC4}">
      <dgm:prSet/>
      <dgm:spPr/>
      <dgm:t>
        <a:bodyPr/>
        <a:lstStyle/>
        <a:p>
          <a:endParaRPr lang="en-US"/>
        </a:p>
      </dgm:t>
    </dgm:pt>
    <dgm:pt modelId="{AF4B6D2D-9ECB-4290-BA9C-DAEA61DC8CE7}" type="sibTrans" cxnId="{125A8A35-CBFC-4B18-82E8-4E4A6712FFC4}">
      <dgm:prSet/>
      <dgm:spPr/>
      <dgm:t>
        <a:bodyPr/>
        <a:lstStyle/>
        <a:p>
          <a:endParaRPr lang="en-US"/>
        </a:p>
      </dgm:t>
    </dgm:pt>
    <dgm:pt modelId="{74871E48-CB5A-417E-BD7F-67FE6A81E1A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noProof="0" dirty="0"/>
            <a:t>Feature Extraction</a:t>
          </a:r>
        </a:p>
        <a:p>
          <a:pPr>
            <a:lnSpc>
              <a:spcPct val="100000"/>
            </a:lnSpc>
          </a:pPr>
          <a:r>
            <a:rPr lang="en-GB" noProof="0" dirty="0"/>
            <a:t>Extracted 112 classical statistical and frequency-domain attributes.</a:t>
          </a:r>
          <a:endParaRPr lang="en-GB" b="1" noProof="0" dirty="0"/>
        </a:p>
      </dgm:t>
    </dgm:pt>
    <dgm:pt modelId="{79EB4956-C45F-4AD1-809A-4555C528D30A}" type="parTrans" cxnId="{9A504827-4B43-4BDF-87CD-1740994D4457}">
      <dgm:prSet/>
      <dgm:spPr/>
      <dgm:t>
        <a:bodyPr/>
        <a:lstStyle/>
        <a:p>
          <a:endParaRPr lang="en-US"/>
        </a:p>
      </dgm:t>
    </dgm:pt>
    <dgm:pt modelId="{AFDA33C2-9D81-4A25-AA70-2AFE613B7648}" type="sibTrans" cxnId="{9A504827-4B43-4BDF-87CD-1740994D4457}">
      <dgm:prSet/>
      <dgm:spPr/>
      <dgm:t>
        <a:bodyPr/>
        <a:lstStyle/>
        <a:p>
          <a:endParaRPr lang="en-US"/>
        </a:p>
      </dgm:t>
    </dgm:pt>
    <dgm:pt modelId="{D4D8DDE5-E2FD-48CC-8D00-A8398C8E3021}" type="pres">
      <dgm:prSet presAssocID="{AFEE27BD-D46A-445A-AE6E-DC3DDD04111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3A67F6-906D-456E-9A5C-F48CCD3395CA}" type="pres">
      <dgm:prSet presAssocID="{8FF5E7EC-C7E7-4410-8791-5562D6F63B8C}" presName="hierRoot1" presStyleCnt="0"/>
      <dgm:spPr/>
    </dgm:pt>
    <dgm:pt modelId="{094AF938-C640-451A-80D0-4C39FF6BB69E}" type="pres">
      <dgm:prSet presAssocID="{8FF5E7EC-C7E7-4410-8791-5562D6F63B8C}" presName="composite" presStyleCnt="0"/>
      <dgm:spPr/>
    </dgm:pt>
    <dgm:pt modelId="{0A3E1DA9-E6B7-405F-9923-C7EF1EB655B5}" type="pres">
      <dgm:prSet presAssocID="{8FF5E7EC-C7E7-4410-8791-5562D6F63B8C}" presName="background" presStyleLbl="node0" presStyleIdx="0" presStyleCnt="3"/>
      <dgm:spPr/>
    </dgm:pt>
    <dgm:pt modelId="{C281DEC7-A5CF-44BD-AE5B-73BB88D670FD}" type="pres">
      <dgm:prSet presAssocID="{8FF5E7EC-C7E7-4410-8791-5562D6F63B8C}" presName="text" presStyleLbl="fgAcc0" presStyleIdx="0" presStyleCnt="3">
        <dgm:presLayoutVars>
          <dgm:chPref val="3"/>
        </dgm:presLayoutVars>
      </dgm:prSet>
      <dgm:spPr/>
    </dgm:pt>
    <dgm:pt modelId="{3307E9A4-19F1-47F6-9667-55A7164F384F}" type="pres">
      <dgm:prSet presAssocID="{8FF5E7EC-C7E7-4410-8791-5562D6F63B8C}" presName="hierChild2" presStyleCnt="0"/>
      <dgm:spPr/>
    </dgm:pt>
    <dgm:pt modelId="{ED0379DB-5670-46EF-B7DC-54937FD49BB7}" type="pres">
      <dgm:prSet presAssocID="{F2089989-1E9C-49E6-9C88-384D0F0289F5}" presName="hierRoot1" presStyleCnt="0"/>
      <dgm:spPr/>
    </dgm:pt>
    <dgm:pt modelId="{22EFA710-35CE-4D42-96C1-CF1F883E6EA2}" type="pres">
      <dgm:prSet presAssocID="{F2089989-1E9C-49E6-9C88-384D0F0289F5}" presName="composite" presStyleCnt="0"/>
      <dgm:spPr/>
    </dgm:pt>
    <dgm:pt modelId="{EB9C98CF-E168-4183-9123-D5C61EA62ACE}" type="pres">
      <dgm:prSet presAssocID="{F2089989-1E9C-49E6-9C88-384D0F0289F5}" presName="background" presStyleLbl="node0" presStyleIdx="1" presStyleCnt="3"/>
      <dgm:spPr/>
    </dgm:pt>
    <dgm:pt modelId="{A6C6B4D8-DFAC-4EDC-AB1C-D5AF411B16ED}" type="pres">
      <dgm:prSet presAssocID="{F2089989-1E9C-49E6-9C88-384D0F0289F5}" presName="text" presStyleLbl="fgAcc0" presStyleIdx="1" presStyleCnt="3">
        <dgm:presLayoutVars>
          <dgm:chPref val="3"/>
        </dgm:presLayoutVars>
      </dgm:prSet>
      <dgm:spPr/>
    </dgm:pt>
    <dgm:pt modelId="{005EDA0F-82CE-4FE8-ACBC-564318E5E8D9}" type="pres">
      <dgm:prSet presAssocID="{F2089989-1E9C-49E6-9C88-384D0F0289F5}" presName="hierChild2" presStyleCnt="0"/>
      <dgm:spPr/>
    </dgm:pt>
    <dgm:pt modelId="{C5CC8213-51BA-435F-8A4A-53F171F93319}" type="pres">
      <dgm:prSet presAssocID="{74871E48-CB5A-417E-BD7F-67FE6A81E1A6}" presName="hierRoot1" presStyleCnt="0"/>
      <dgm:spPr/>
    </dgm:pt>
    <dgm:pt modelId="{A52225D8-A96D-4D9D-BEAD-51F4E3326B8F}" type="pres">
      <dgm:prSet presAssocID="{74871E48-CB5A-417E-BD7F-67FE6A81E1A6}" presName="composite" presStyleCnt="0"/>
      <dgm:spPr/>
    </dgm:pt>
    <dgm:pt modelId="{1CDE5292-089F-472C-8E1E-123BCBA2289D}" type="pres">
      <dgm:prSet presAssocID="{74871E48-CB5A-417E-BD7F-67FE6A81E1A6}" presName="background" presStyleLbl="node0" presStyleIdx="2" presStyleCnt="3"/>
      <dgm:spPr/>
    </dgm:pt>
    <dgm:pt modelId="{A49EBC1B-6755-41A7-9DF0-E61BB9048526}" type="pres">
      <dgm:prSet presAssocID="{74871E48-CB5A-417E-BD7F-67FE6A81E1A6}" presName="text" presStyleLbl="fgAcc0" presStyleIdx="2" presStyleCnt="3">
        <dgm:presLayoutVars>
          <dgm:chPref val="3"/>
        </dgm:presLayoutVars>
      </dgm:prSet>
      <dgm:spPr/>
    </dgm:pt>
    <dgm:pt modelId="{EDE37C05-454D-4E59-A116-616F988559A2}" type="pres">
      <dgm:prSet presAssocID="{74871E48-CB5A-417E-BD7F-67FE6A81E1A6}" presName="hierChild2" presStyleCnt="0"/>
      <dgm:spPr/>
    </dgm:pt>
  </dgm:ptLst>
  <dgm:cxnLst>
    <dgm:cxn modelId="{F9531A26-FC56-435E-AC4D-732FF8698698}" type="presOf" srcId="{AFEE27BD-D46A-445A-AE6E-DC3DDD041113}" destId="{D4D8DDE5-E2FD-48CC-8D00-A8398C8E3021}" srcOrd="0" destOrd="0" presId="urn:microsoft.com/office/officeart/2005/8/layout/hierarchy1"/>
    <dgm:cxn modelId="{9A504827-4B43-4BDF-87CD-1740994D4457}" srcId="{AFEE27BD-D46A-445A-AE6E-DC3DDD041113}" destId="{74871E48-CB5A-417E-BD7F-67FE6A81E1A6}" srcOrd="2" destOrd="0" parTransId="{79EB4956-C45F-4AD1-809A-4555C528D30A}" sibTransId="{AFDA33C2-9D81-4A25-AA70-2AFE613B7648}"/>
    <dgm:cxn modelId="{125A8A35-CBFC-4B18-82E8-4E4A6712FFC4}" srcId="{AFEE27BD-D46A-445A-AE6E-DC3DDD041113}" destId="{F2089989-1E9C-49E6-9C88-384D0F0289F5}" srcOrd="1" destOrd="0" parTransId="{A2EB6EF5-2223-4550-826A-F00A4EF52E3F}" sibTransId="{AF4B6D2D-9ECB-4290-BA9C-DAEA61DC8CE7}"/>
    <dgm:cxn modelId="{CFB21270-8B08-4814-B6B3-F64DAB3F2A9E}" type="presOf" srcId="{74871E48-CB5A-417E-BD7F-67FE6A81E1A6}" destId="{A49EBC1B-6755-41A7-9DF0-E61BB9048526}" srcOrd="0" destOrd="0" presId="urn:microsoft.com/office/officeart/2005/8/layout/hierarchy1"/>
    <dgm:cxn modelId="{26877CA5-B9C7-4357-8ED5-FC913FCF1668}" type="presOf" srcId="{F2089989-1E9C-49E6-9C88-384D0F0289F5}" destId="{A6C6B4D8-DFAC-4EDC-AB1C-D5AF411B16ED}" srcOrd="0" destOrd="0" presId="urn:microsoft.com/office/officeart/2005/8/layout/hierarchy1"/>
    <dgm:cxn modelId="{5BBE77D0-AEA3-4DC8-A1D7-099AC12FBC5F}" srcId="{AFEE27BD-D46A-445A-AE6E-DC3DDD041113}" destId="{8FF5E7EC-C7E7-4410-8791-5562D6F63B8C}" srcOrd="0" destOrd="0" parTransId="{BA8D42E6-4EB2-4E12-8433-64047B051C40}" sibTransId="{B52AA49A-8A9F-4B80-9D7A-7F688114A1A4}"/>
    <dgm:cxn modelId="{DC92B9F3-2CEC-4326-AC4E-D12DA733D941}" type="presOf" srcId="{8FF5E7EC-C7E7-4410-8791-5562D6F63B8C}" destId="{C281DEC7-A5CF-44BD-AE5B-73BB88D670FD}" srcOrd="0" destOrd="0" presId="urn:microsoft.com/office/officeart/2005/8/layout/hierarchy1"/>
    <dgm:cxn modelId="{2B34F2C5-2DBA-4F57-A6D8-D5C3CBBFCC45}" type="presParOf" srcId="{D4D8DDE5-E2FD-48CC-8D00-A8398C8E3021}" destId="{7D3A67F6-906D-456E-9A5C-F48CCD3395CA}" srcOrd="0" destOrd="0" presId="urn:microsoft.com/office/officeart/2005/8/layout/hierarchy1"/>
    <dgm:cxn modelId="{AE37AAFA-C64A-4EB2-BECE-7516673FED00}" type="presParOf" srcId="{7D3A67F6-906D-456E-9A5C-F48CCD3395CA}" destId="{094AF938-C640-451A-80D0-4C39FF6BB69E}" srcOrd="0" destOrd="0" presId="urn:microsoft.com/office/officeart/2005/8/layout/hierarchy1"/>
    <dgm:cxn modelId="{FDF0E1F2-29B1-4F67-990E-E3B83745724A}" type="presParOf" srcId="{094AF938-C640-451A-80D0-4C39FF6BB69E}" destId="{0A3E1DA9-E6B7-405F-9923-C7EF1EB655B5}" srcOrd="0" destOrd="0" presId="urn:microsoft.com/office/officeart/2005/8/layout/hierarchy1"/>
    <dgm:cxn modelId="{D9702659-19B6-4F24-8531-36B203162416}" type="presParOf" srcId="{094AF938-C640-451A-80D0-4C39FF6BB69E}" destId="{C281DEC7-A5CF-44BD-AE5B-73BB88D670FD}" srcOrd="1" destOrd="0" presId="urn:microsoft.com/office/officeart/2005/8/layout/hierarchy1"/>
    <dgm:cxn modelId="{128AF221-A1EF-43A1-B824-3F3A906E7444}" type="presParOf" srcId="{7D3A67F6-906D-456E-9A5C-F48CCD3395CA}" destId="{3307E9A4-19F1-47F6-9667-55A7164F384F}" srcOrd="1" destOrd="0" presId="urn:microsoft.com/office/officeart/2005/8/layout/hierarchy1"/>
    <dgm:cxn modelId="{0E1C1B36-41EF-4599-AB6A-CF53E06A11DF}" type="presParOf" srcId="{D4D8DDE5-E2FD-48CC-8D00-A8398C8E3021}" destId="{ED0379DB-5670-46EF-B7DC-54937FD49BB7}" srcOrd="1" destOrd="0" presId="urn:microsoft.com/office/officeart/2005/8/layout/hierarchy1"/>
    <dgm:cxn modelId="{ADA24B3F-B9A3-441B-8682-0D9711262E10}" type="presParOf" srcId="{ED0379DB-5670-46EF-B7DC-54937FD49BB7}" destId="{22EFA710-35CE-4D42-96C1-CF1F883E6EA2}" srcOrd="0" destOrd="0" presId="urn:microsoft.com/office/officeart/2005/8/layout/hierarchy1"/>
    <dgm:cxn modelId="{9745368E-3E81-4281-87D7-52ADC03FCEEC}" type="presParOf" srcId="{22EFA710-35CE-4D42-96C1-CF1F883E6EA2}" destId="{EB9C98CF-E168-4183-9123-D5C61EA62ACE}" srcOrd="0" destOrd="0" presId="urn:microsoft.com/office/officeart/2005/8/layout/hierarchy1"/>
    <dgm:cxn modelId="{603B1CD2-9131-453D-8A4A-92847DEFC0FE}" type="presParOf" srcId="{22EFA710-35CE-4D42-96C1-CF1F883E6EA2}" destId="{A6C6B4D8-DFAC-4EDC-AB1C-D5AF411B16ED}" srcOrd="1" destOrd="0" presId="urn:microsoft.com/office/officeart/2005/8/layout/hierarchy1"/>
    <dgm:cxn modelId="{9154C19C-C92A-4010-9884-099E4C0BB9C7}" type="presParOf" srcId="{ED0379DB-5670-46EF-B7DC-54937FD49BB7}" destId="{005EDA0F-82CE-4FE8-ACBC-564318E5E8D9}" srcOrd="1" destOrd="0" presId="urn:microsoft.com/office/officeart/2005/8/layout/hierarchy1"/>
    <dgm:cxn modelId="{90657164-CFBD-4E4C-8F1E-F3D2CE10F377}" type="presParOf" srcId="{D4D8DDE5-E2FD-48CC-8D00-A8398C8E3021}" destId="{C5CC8213-51BA-435F-8A4A-53F171F93319}" srcOrd="2" destOrd="0" presId="urn:microsoft.com/office/officeart/2005/8/layout/hierarchy1"/>
    <dgm:cxn modelId="{3D3B92A8-8648-42B2-AD04-609A673244E2}" type="presParOf" srcId="{C5CC8213-51BA-435F-8A4A-53F171F93319}" destId="{A52225D8-A96D-4D9D-BEAD-51F4E3326B8F}" srcOrd="0" destOrd="0" presId="urn:microsoft.com/office/officeart/2005/8/layout/hierarchy1"/>
    <dgm:cxn modelId="{77EC474C-5274-426B-9A0B-F4430B8A01DF}" type="presParOf" srcId="{A52225D8-A96D-4D9D-BEAD-51F4E3326B8F}" destId="{1CDE5292-089F-472C-8E1E-123BCBA2289D}" srcOrd="0" destOrd="0" presId="urn:microsoft.com/office/officeart/2005/8/layout/hierarchy1"/>
    <dgm:cxn modelId="{6E723A5B-9190-4B5E-81F7-FEB7EBE08A7D}" type="presParOf" srcId="{A52225D8-A96D-4D9D-BEAD-51F4E3326B8F}" destId="{A49EBC1B-6755-41A7-9DF0-E61BB9048526}" srcOrd="1" destOrd="0" presId="urn:microsoft.com/office/officeart/2005/8/layout/hierarchy1"/>
    <dgm:cxn modelId="{516BDD32-4D0A-4F2A-9B09-249466708B8F}" type="presParOf" srcId="{C5CC8213-51BA-435F-8A4A-53F171F93319}" destId="{EDE37C05-454D-4E59-A116-616F988559A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EE27BD-D46A-445A-AE6E-DC3DDD04111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F5E7EC-C7E7-4410-8791-5562D6F63B8C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noProof="0" dirty="0"/>
            <a:t>Quantum Encoding</a:t>
          </a:r>
        </a:p>
        <a:p>
          <a:pPr>
            <a:lnSpc>
              <a:spcPct val="100000"/>
            </a:lnSpc>
          </a:pPr>
          <a:r>
            <a:rPr lang="en-GB" noProof="0" dirty="0"/>
            <a:t>Maps the 112 extracted classical features onto an 8-qubit system.</a:t>
          </a:r>
        </a:p>
        <a:p>
          <a:pPr>
            <a:lnSpc>
              <a:spcPct val="100000"/>
            </a:lnSpc>
            <a:buNone/>
          </a:pPr>
          <a:r>
            <a:rPr lang="en-GB" noProof="0" dirty="0"/>
            <a:t>Amplitude embedding projects the signals into a 256-dimensional Hilbert space.</a:t>
          </a:r>
        </a:p>
      </dgm:t>
    </dgm:pt>
    <dgm:pt modelId="{BA8D42E6-4EB2-4E12-8433-64047B051C40}" type="parTrans" cxnId="{5BBE77D0-AEA3-4DC8-A1D7-099AC12FBC5F}">
      <dgm:prSet/>
      <dgm:spPr/>
      <dgm:t>
        <a:bodyPr/>
        <a:lstStyle/>
        <a:p>
          <a:endParaRPr lang="en-US"/>
        </a:p>
      </dgm:t>
    </dgm:pt>
    <dgm:pt modelId="{B52AA49A-8A9F-4B80-9D7A-7F688114A1A4}" type="sibTrans" cxnId="{5BBE77D0-AEA3-4DC8-A1D7-099AC12FBC5F}">
      <dgm:prSet/>
      <dgm:spPr/>
      <dgm:t>
        <a:bodyPr/>
        <a:lstStyle/>
        <a:p>
          <a:endParaRPr lang="en-US"/>
        </a:p>
      </dgm:t>
    </dgm:pt>
    <dgm:pt modelId="{F2089989-1E9C-49E6-9C88-384D0F0289F5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noProof="0" dirty="0"/>
            <a:t>Quantum Reservoir</a:t>
          </a:r>
        </a:p>
        <a:p>
          <a:pPr>
            <a:lnSpc>
              <a:spcPct val="100000"/>
            </a:lnSpc>
          </a:pPr>
          <a:r>
            <a:rPr lang="en-GB" noProof="0" dirty="0"/>
            <a:t>Fixed, untrained Depth-3 quantum circuit acts as a non-linear mixer.</a:t>
          </a:r>
        </a:p>
        <a:p>
          <a:pPr>
            <a:lnSpc>
              <a:spcPct val="100000"/>
            </a:lnSpc>
            <a:buNone/>
          </a:pPr>
          <a:r>
            <a:rPr lang="en-GB" noProof="0" dirty="0"/>
            <a:t>Transforms raw features into high-dimensional quantum states without parameter training.</a:t>
          </a:r>
        </a:p>
      </dgm:t>
    </dgm:pt>
    <dgm:pt modelId="{A2EB6EF5-2223-4550-826A-F00A4EF52E3F}" type="parTrans" cxnId="{125A8A35-CBFC-4B18-82E8-4E4A6712FFC4}">
      <dgm:prSet/>
      <dgm:spPr/>
      <dgm:t>
        <a:bodyPr/>
        <a:lstStyle/>
        <a:p>
          <a:endParaRPr lang="en-US"/>
        </a:p>
      </dgm:t>
    </dgm:pt>
    <dgm:pt modelId="{AF4B6D2D-9ECB-4290-BA9C-DAEA61DC8CE7}" type="sibTrans" cxnId="{125A8A35-CBFC-4B18-82E8-4E4A6712FFC4}">
      <dgm:prSet/>
      <dgm:spPr/>
      <dgm:t>
        <a:bodyPr/>
        <a:lstStyle/>
        <a:p>
          <a:endParaRPr lang="en-US"/>
        </a:p>
      </dgm:t>
    </dgm:pt>
    <dgm:pt modelId="{74871E48-CB5A-417E-BD7F-67FE6A81E1A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noProof="0" dirty="0"/>
            <a:t>Ridge Classifier Readout</a:t>
          </a:r>
        </a:p>
        <a:p>
          <a:pPr>
            <a:lnSpc>
              <a:spcPct val="100000"/>
            </a:lnSpc>
          </a:pPr>
          <a:r>
            <a:rPr lang="en-GB" noProof="0" dirty="0"/>
            <a:t>Applied a classical </a:t>
          </a:r>
          <a:r>
            <a:rPr lang="en-GB" b="0" noProof="0" dirty="0"/>
            <a:t>Ridge Classifier </a:t>
          </a:r>
          <a:r>
            <a:rPr lang="en-GB" noProof="0" dirty="0"/>
            <a:t>to the measured qubit expectation values.</a:t>
          </a:r>
        </a:p>
        <a:p>
          <a:pPr>
            <a:lnSpc>
              <a:spcPct val="100000"/>
            </a:lnSpc>
            <a:buNone/>
          </a:pPr>
          <a:r>
            <a:rPr lang="en-GB" noProof="0" dirty="0"/>
            <a:t>Only this classical readout head is trained, bypassing expensive quantum gradient descent.</a:t>
          </a:r>
        </a:p>
      </dgm:t>
    </dgm:pt>
    <dgm:pt modelId="{79EB4956-C45F-4AD1-809A-4555C528D30A}" type="parTrans" cxnId="{9A504827-4B43-4BDF-87CD-1740994D4457}">
      <dgm:prSet/>
      <dgm:spPr/>
      <dgm:t>
        <a:bodyPr/>
        <a:lstStyle/>
        <a:p>
          <a:endParaRPr lang="en-US"/>
        </a:p>
      </dgm:t>
    </dgm:pt>
    <dgm:pt modelId="{AFDA33C2-9D81-4A25-AA70-2AFE613B7648}" type="sibTrans" cxnId="{9A504827-4B43-4BDF-87CD-1740994D4457}">
      <dgm:prSet/>
      <dgm:spPr/>
      <dgm:t>
        <a:bodyPr/>
        <a:lstStyle/>
        <a:p>
          <a:endParaRPr lang="en-US"/>
        </a:p>
      </dgm:t>
    </dgm:pt>
    <dgm:pt modelId="{47C5E7C4-A1BA-4914-996E-55386A723DEC}" type="pres">
      <dgm:prSet presAssocID="{AFEE27BD-D46A-445A-AE6E-DC3DDD041113}" presName="vert0" presStyleCnt="0">
        <dgm:presLayoutVars>
          <dgm:dir/>
          <dgm:animOne val="branch"/>
          <dgm:animLvl val="lvl"/>
        </dgm:presLayoutVars>
      </dgm:prSet>
      <dgm:spPr/>
    </dgm:pt>
    <dgm:pt modelId="{6C651DA0-ADBD-4BAB-A729-7C78707397BF}" type="pres">
      <dgm:prSet presAssocID="{8FF5E7EC-C7E7-4410-8791-5562D6F63B8C}" presName="thickLine" presStyleLbl="alignNode1" presStyleIdx="0" presStyleCnt="3"/>
      <dgm:spPr/>
    </dgm:pt>
    <dgm:pt modelId="{2DE8D294-D007-4F23-BF8B-1203EC971EAF}" type="pres">
      <dgm:prSet presAssocID="{8FF5E7EC-C7E7-4410-8791-5562D6F63B8C}" presName="horz1" presStyleCnt="0"/>
      <dgm:spPr/>
    </dgm:pt>
    <dgm:pt modelId="{32212A06-8EA0-45B9-A594-201719E31988}" type="pres">
      <dgm:prSet presAssocID="{8FF5E7EC-C7E7-4410-8791-5562D6F63B8C}" presName="tx1" presStyleLbl="revTx" presStyleIdx="0" presStyleCnt="3"/>
      <dgm:spPr/>
    </dgm:pt>
    <dgm:pt modelId="{1656B46F-3760-4462-ABB1-E429B01B5373}" type="pres">
      <dgm:prSet presAssocID="{8FF5E7EC-C7E7-4410-8791-5562D6F63B8C}" presName="vert1" presStyleCnt="0"/>
      <dgm:spPr/>
    </dgm:pt>
    <dgm:pt modelId="{27BF1BCE-C06B-4747-BF31-AD0EA8CF4617}" type="pres">
      <dgm:prSet presAssocID="{F2089989-1E9C-49E6-9C88-384D0F0289F5}" presName="thickLine" presStyleLbl="alignNode1" presStyleIdx="1" presStyleCnt="3"/>
      <dgm:spPr/>
    </dgm:pt>
    <dgm:pt modelId="{412C3CF8-5E56-4E41-9B7C-A81613A994B1}" type="pres">
      <dgm:prSet presAssocID="{F2089989-1E9C-49E6-9C88-384D0F0289F5}" presName="horz1" presStyleCnt="0"/>
      <dgm:spPr/>
    </dgm:pt>
    <dgm:pt modelId="{6BDEBF30-D71E-4BE0-B8C3-94E886921182}" type="pres">
      <dgm:prSet presAssocID="{F2089989-1E9C-49E6-9C88-384D0F0289F5}" presName="tx1" presStyleLbl="revTx" presStyleIdx="1" presStyleCnt="3"/>
      <dgm:spPr/>
    </dgm:pt>
    <dgm:pt modelId="{532321F9-D4F0-42F8-8B0C-32007DB3B067}" type="pres">
      <dgm:prSet presAssocID="{F2089989-1E9C-49E6-9C88-384D0F0289F5}" presName="vert1" presStyleCnt="0"/>
      <dgm:spPr/>
    </dgm:pt>
    <dgm:pt modelId="{D8F0C578-38A5-4DCC-A694-28A2B0D12BC9}" type="pres">
      <dgm:prSet presAssocID="{74871E48-CB5A-417E-BD7F-67FE6A81E1A6}" presName="thickLine" presStyleLbl="alignNode1" presStyleIdx="2" presStyleCnt="3"/>
      <dgm:spPr/>
    </dgm:pt>
    <dgm:pt modelId="{40190B17-BAFB-453E-99DA-56E22E014262}" type="pres">
      <dgm:prSet presAssocID="{74871E48-CB5A-417E-BD7F-67FE6A81E1A6}" presName="horz1" presStyleCnt="0"/>
      <dgm:spPr/>
    </dgm:pt>
    <dgm:pt modelId="{06F87B0F-1CDA-4A3D-84E8-D0BEF2B1A939}" type="pres">
      <dgm:prSet presAssocID="{74871E48-CB5A-417E-BD7F-67FE6A81E1A6}" presName="tx1" presStyleLbl="revTx" presStyleIdx="2" presStyleCnt="3"/>
      <dgm:spPr/>
    </dgm:pt>
    <dgm:pt modelId="{5FA65649-134C-408B-87D4-639248462E8C}" type="pres">
      <dgm:prSet presAssocID="{74871E48-CB5A-417E-BD7F-67FE6A81E1A6}" presName="vert1" presStyleCnt="0"/>
      <dgm:spPr/>
    </dgm:pt>
  </dgm:ptLst>
  <dgm:cxnLst>
    <dgm:cxn modelId="{9A504827-4B43-4BDF-87CD-1740994D4457}" srcId="{AFEE27BD-D46A-445A-AE6E-DC3DDD041113}" destId="{74871E48-CB5A-417E-BD7F-67FE6A81E1A6}" srcOrd="2" destOrd="0" parTransId="{79EB4956-C45F-4AD1-809A-4555C528D30A}" sibTransId="{AFDA33C2-9D81-4A25-AA70-2AFE613B7648}"/>
    <dgm:cxn modelId="{125A8A35-CBFC-4B18-82E8-4E4A6712FFC4}" srcId="{AFEE27BD-D46A-445A-AE6E-DC3DDD041113}" destId="{F2089989-1E9C-49E6-9C88-384D0F0289F5}" srcOrd="1" destOrd="0" parTransId="{A2EB6EF5-2223-4550-826A-F00A4EF52E3F}" sibTransId="{AF4B6D2D-9ECB-4290-BA9C-DAEA61DC8CE7}"/>
    <dgm:cxn modelId="{3087FD8D-1879-4591-8D4F-2740F0EC40BC}" type="presOf" srcId="{8FF5E7EC-C7E7-4410-8791-5562D6F63B8C}" destId="{32212A06-8EA0-45B9-A594-201719E31988}" srcOrd="0" destOrd="0" presId="urn:microsoft.com/office/officeart/2008/layout/LinedList"/>
    <dgm:cxn modelId="{49B9F6B0-369C-4035-BAB8-C0CC0EC5FFE0}" type="presOf" srcId="{74871E48-CB5A-417E-BD7F-67FE6A81E1A6}" destId="{06F87B0F-1CDA-4A3D-84E8-D0BEF2B1A939}" srcOrd="0" destOrd="0" presId="urn:microsoft.com/office/officeart/2008/layout/LinedList"/>
    <dgm:cxn modelId="{7900FAB5-D566-42DF-A1C4-A85A31958C0E}" type="presOf" srcId="{F2089989-1E9C-49E6-9C88-384D0F0289F5}" destId="{6BDEBF30-D71E-4BE0-B8C3-94E886921182}" srcOrd="0" destOrd="0" presId="urn:microsoft.com/office/officeart/2008/layout/LinedList"/>
    <dgm:cxn modelId="{5BBE77D0-AEA3-4DC8-A1D7-099AC12FBC5F}" srcId="{AFEE27BD-D46A-445A-AE6E-DC3DDD041113}" destId="{8FF5E7EC-C7E7-4410-8791-5562D6F63B8C}" srcOrd="0" destOrd="0" parTransId="{BA8D42E6-4EB2-4E12-8433-64047B051C40}" sibTransId="{B52AA49A-8A9F-4B80-9D7A-7F688114A1A4}"/>
    <dgm:cxn modelId="{2E653BD8-B814-4864-A075-8538AB2E58A3}" type="presOf" srcId="{AFEE27BD-D46A-445A-AE6E-DC3DDD041113}" destId="{47C5E7C4-A1BA-4914-996E-55386A723DEC}" srcOrd="0" destOrd="0" presId="urn:microsoft.com/office/officeart/2008/layout/LinedList"/>
    <dgm:cxn modelId="{7BADC516-6492-482B-907E-5869F8745328}" type="presParOf" srcId="{47C5E7C4-A1BA-4914-996E-55386A723DEC}" destId="{6C651DA0-ADBD-4BAB-A729-7C78707397BF}" srcOrd="0" destOrd="0" presId="urn:microsoft.com/office/officeart/2008/layout/LinedList"/>
    <dgm:cxn modelId="{F515C087-36CE-424A-B6FD-AB42FB104F46}" type="presParOf" srcId="{47C5E7C4-A1BA-4914-996E-55386A723DEC}" destId="{2DE8D294-D007-4F23-BF8B-1203EC971EAF}" srcOrd="1" destOrd="0" presId="urn:microsoft.com/office/officeart/2008/layout/LinedList"/>
    <dgm:cxn modelId="{B26746E5-6BB2-4E8A-9C5B-DF0A93B21AC4}" type="presParOf" srcId="{2DE8D294-D007-4F23-BF8B-1203EC971EAF}" destId="{32212A06-8EA0-45B9-A594-201719E31988}" srcOrd="0" destOrd="0" presId="urn:microsoft.com/office/officeart/2008/layout/LinedList"/>
    <dgm:cxn modelId="{C1D4B018-8D98-42D3-B5F4-D287C4C02615}" type="presParOf" srcId="{2DE8D294-D007-4F23-BF8B-1203EC971EAF}" destId="{1656B46F-3760-4462-ABB1-E429B01B5373}" srcOrd="1" destOrd="0" presId="urn:microsoft.com/office/officeart/2008/layout/LinedList"/>
    <dgm:cxn modelId="{9186DBB5-515A-4BA7-9AD5-448945C52838}" type="presParOf" srcId="{47C5E7C4-A1BA-4914-996E-55386A723DEC}" destId="{27BF1BCE-C06B-4747-BF31-AD0EA8CF4617}" srcOrd="2" destOrd="0" presId="urn:microsoft.com/office/officeart/2008/layout/LinedList"/>
    <dgm:cxn modelId="{1CAB6349-EDCD-406D-89D9-E866674B78DE}" type="presParOf" srcId="{47C5E7C4-A1BA-4914-996E-55386A723DEC}" destId="{412C3CF8-5E56-4E41-9B7C-A81613A994B1}" srcOrd="3" destOrd="0" presId="urn:microsoft.com/office/officeart/2008/layout/LinedList"/>
    <dgm:cxn modelId="{D4643BE8-2DF7-4201-B5FF-EBC8BDF5D673}" type="presParOf" srcId="{412C3CF8-5E56-4E41-9B7C-A81613A994B1}" destId="{6BDEBF30-D71E-4BE0-B8C3-94E886921182}" srcOrd="0" destOrd="0" presId="urn:microsoft.com/office/officeart/2008/layout/LinedList"/>
    <dgm:cxn modelId="{D7D1E795-9B4B-4E2B-9964-08C2B1BA7619}" type="presParOf" srcId="{412C3CF8-5E56-4E41-9B7C-A81613A994B1}" destId="{532321F9-D4F0-42F8-8B0C-32007DB3B067}" srcOrd="1" destOrd="0" presId="urn:microsoft.com/office/officeart/2008/layout/LinedList"/>
    <dgm:cxn modelId="{276B23DE-6B85-40E6-9859-E76B34C325C8}" type="presParOf" srcId="{47C5E7C4-A1BA-4914-996E-55386A723DEC}" destId="{D8F0C578-38A5-4DCC-A694-28A2B0D12BC9}" srcOrd="4" destOrd="0" presId="urn:microsoft.com/office/officeart/2008/layout/LinedList"/>
    <dgm:cxn modelId="{B5DE9270-4FB7-4438-8810-955E3E24BC1A}" type="presParOf" srcId="{47C5E7C4-A1BA-4914-996E-55386A723DEC}" destId="{40190B17-BAFB-453E-99DA-56E22E014262}" srcOrd="5" destOrd="0" presId="urn:microsoft.com/office/officeart/2008/layout/LinedList"/>
    <dgm:cxn modelId="{8B7F4806-6934-4EF3-893A-07F4462361E2}" type="presParOf" srcId="{40190B17-BAFB-453E-99DA-56E22E014262}" destId="{06F87B0F-1CDA-4A3D-84E8-D0BEF2B1A939}" srcOrd="0" destOrd="0" presId="urn:microsoft.com/office/officeart/2008/layout/LinedList"/>
    <dgm:cxn modelId="{ADF7C285-D040-409D-8FA6-7E60296D711F}" type="presParOf" srcId="{40190B17-BAFB-453E-99DA-56E22E014262}" destId="{5FA65649-134C-408B-87D4-639248462E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E1DA9-E6B7-405F-9923-C7EF1EB655B5}">
      <dsp:nvSpPr>
        <dsp:cNvPr id="0" name=""/>
        <dsp:cNvSpPr/>
      </dsp:nvSpPr>
      <dsp:spPr>
        <a:xfrm>
          <a:off x="0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81DEC7-A5CF-44BD-AE5B-73BB88D670FD}">
      <dsp:nvSpPr>
        <dsp:cNvPr id="0" name=""/>
        <dsp:cNvSpPr/>
      </dsp:nvSpPr>
      <dsp:spPr>
        <a:xfrm>
          <a:off x="31432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noProof="0" dirty="0" err="1"/>
            <a:t>Emotiv</a:t>
          </a:r>
          <a:r>
            <a:rPr lang="en-GB" sz="1800" b="1" kern="1200" noProof="0" dirty="0"/>
            <a:t> EPOC Hardware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Utilizes 14 channels sampling at 128Hz frequency.</a:t>
          </a:r>
        </a:p>
      </dsp:txBody>
      <dsp:txXfrm>
        <a:off x="366939" y="1196774"/>
        <a:ext cx="2723696" cy="1691139"/>
      </dsp:txXfrm>
    </dsp:sp>
    <dsp:sp modelId="{EB9C98CF-E168-4183-9123-D5C61EA62ACE}">
      <dsp:nvSpPr>
        <dsp:cNvPr id="0" name=""/>
        <dsp:cNvSpPr/>
      </dsp:nvSpPr>
      <dsp:spPr>
        <a:xfrm>
          <a:off x="3457574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6B4D8-DFAC-4EDC-AB1C-D5AF411B16ED}">
      <dsp:nvSpPr>
        <dsp:cNvPr id="0" name=""/>
        <dsp:cNvSpPr/>
      </dsp:nvSpPr>
      <dsp:spPr>
        <a:xfrm>
          <a:off x="3771899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noProof="0" dirty="0"/>
            <a:t>Scope Limit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Focused strictly on digits 0–4 to establish a robust 5-class cognitive intent benchmark. </a:t>
          </a:r>
        </a:p>
      </dsp:txBody>
      <dsp:txXfrm>
        <a:off x="3824513" y="1196774"/>
        <a:ext cx="2723696" cy="1691139"/>
      </dsp:txXfrm>
    </dsp:sp>
    <dsp:sp modelId="{1CDE5292-089F-472C-8E1E-123BCBA2289D}">
      <dsp:nvSpPr>
        <dsp:cNvPr id="0" name=""/>
        <dsp:cNvSpPr/>
      </dsp:nvSpPr>
      <dsp:spPr>
        <a:xfrm>
          <a:off x="6915149" y="84555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9EBC1B-6755-41A7-9DF0-E61BB9048526}">
      <dsp:nvSpPr>
        <dsp:cNvPr id="0" name=""/>
        <dsp:cNvSpPr/>
      </dsp:nvSpPr>
      <dsp:spPr>
        <a:xfrm>
          <a:off x="7229475" y="114416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noProof="0" dirty="0"/>
            <a:t>Feature Extraction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noProof="0" dirty="0"/>
            <a:t>Extracted 112 classical statistical and frequency-domain attributes.</a:t>
          </a:r>
          <a:endParaRPr lang="en-GB" sz="1800" b="1" kern="1200" noProof="0" dirty="0"/>
        </a:p>
      </dsp:txBody>
      <dsp:txXfrm>
        <a:off x="7282089" y="1196774"/>
        <a:ext cx="2723696" cy="16911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651DA0-ADBD-4BAB-A729-7C78707397BF}">
      <dsp:nvSpPr>
        <dsp:cNvPr id="0" name=""/>
        <dsp:cNvSpPr/>
      </dsp:nvSpPr>
      <dsp:spPr>
        <a:xfrm>
          <a:off x="0" y="1848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212A06-8EA0-45B9-A594-201719E31988}">
      <dsp:nvSpPr>
        <dsp:cNvPr id="0" name=""/>
        <dsp:cNvSpPr/>
      </dsp:nvSpPr>
      <dsp:spPr>
        <a:xfrm>
          <a:off x="0" y="1848"/>
          <a:ext cx="10058399" cy="1260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noProof="0" dirty="0"/>
            <a:t>Quantum Encoding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Maps the 112 extracted classical features onto an 8-qubit system.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Amplitude embedding projects the signals into a 256-dimensional Hilbert space.</a:t>
          </a:r>
        </a:p>
      </dsp:txBody>
      <dsp:txXfrm>
        <a:off x="0" y="1848"/>
        <a:ext cx="10058399" cy="1260794"/>
      </dsp:txXfrm>
    </dsp:sp>
    <dsp:sp modelId="{27BF1BCE-C06B-4747-BF31-AD0EA8CF4617}">
      <dsp:nvSpPr>
        <dsp:cNvPr id="0" name=""/>
        <dsp:cNvSpPr/>
      </dsp:nvSpPr>
      <dsp:spPr>
        <a:xfrm>
          <a:off x="0" y="126264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EBF30-D71E-4BE0-B8C3-94E886921182}">
      <dsp:nvSpPr>
        <dsp:cNvPr id="0" name=""/>
        <dsp:cNvSpPr/>
      </dsp:nvSpPr>
      <dsp:spPr>
        <a:xfrm>
          <a:off x="0" y="1262642"/>
          <a:ext cx="10058399" cy="1260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noProof="0" dirty="0"/>
            <a:t>Quantum Reservoir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Fixed, untrained Depth-3 quantum circuit acts as a non-linear mixer.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Transforms raw features into high-dimensional quantum states without parameter training.</a:t>
          </a:r>
        </a:p>
      </dsp:txBody>
      <dsp:txXfrm>
        <a:off x="0" y="1262642"/>
        <a:ext cx="10058399" cy="1260794"/>
      </dsp:txXfrm>
    </dsp:sp>
    <dsp:sp modelId="{D8F0C578-38A5-4DCC-A694-28A2B0D12BC9}">
      <dsp:nvSpPr>
        <dsp:cNvPr id="0" name=""/>
        <dsp:cNvSpPr/>
      </dsp:nvSpPr>
      <dsp:spPr>
        <a:xfrm>
          <a:off x="0" y="2523437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F87B0F-1CDA-4A3D-84E8-D0BEF2B1A939}">
      <dsp:nvSpPr>
        <dsp:cNvPr id="0" name=""/>
        <dsp:cNvSpPr/>
      </dsp:nvSpPr>
      <dsp:spPr>
        <a:xfrm>
          <a:off x="0" y="2523437"/>
          <a:ext cx="10058399" cy="12607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 noProof="0" dirty="0"/>
            <a:t>Ridge Classifier Readout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Applied a classical </a:t>
          </a:r>
          <a:r>
            <a:rPr lang="en-GB" sz="1900" b="0" kern="1200" noProof="0" dirty="0"/>
            <a:t>Ridge Classifier </a:t>
          </a:r>
          <a:r>
            <a:rPr lang="en-GB" sz="1900" kern="1200" noProof="0" dirty="0"/>
            <a:t>to the measured qubit expectation values.</a:t>
          </a:r>
        </a:p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 dirty="0"/>
            <a:t>Only this classical readout head is trained, bypassing expensive quantum gradient descent.</a:t>
          </a:r>
        </a:p>
      </dsp:txBody>
      <dsp:txXfrm>
        <a:off x="0" y="2523437"/>
        <a:ext cx="10058399" cy="12607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EABAF-307B-48EE-8E7B-17F1AC5587E1}" type="datetimeFigureOut">
              <a:rPr lang="de-CH" smtClean="0"/>
              <a:t>29.05.2026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6BF627-9FA1-4B6B-BD40-762DCAF1FE98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4593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6BF627-9FA1-4B6B-BD40-762DCAF1FE98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6469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75A4-05B3-4E44-A83D-058B70B84CA7}" type="datetime1">
              <a:rPr lang="de-CH" smtClean="0"/>
              <a:t>29.05.2026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581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526DA-129E-4A90-8A7F-2F3E598EBB2F}" type="datetime1">
              <a:rPr lang="de-CH" smtClean="0"/>
              <a:t>29.05.2026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4975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6F229-E08B-458F-BE5F-26922F9E1FA6}" type="datetime1">
              <a:rPr lang="de-CH" smtClean="0"/>
              <a:t>29.05.2026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67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8715C-9141-4C75-A3CF-E5E74AAE8D8C}" type="datetime1">
              <a:rPr lang="de-CH" smtClean="0"/>
              <a:t>29.05.2026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7609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9D77-5DAB-42EB-AF4C-D45EC58DF1DC}" type="datetime1">
              <a:rPr lang="de-CH" smtClean="0"/>
              <a:t>29.05.2026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67218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352D-A0D9-449D-9F45-880631D4A90D}" type="datetime1">
              <a:rPr lang="de-CH" smtClean="0"/>
              <a:t>29.05.2026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8769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4DEBF-4A51-41F9-B9AC-72B940EA6B1B}" type="datetime1">
              <a:rPr lang="de-CH" smtClean="0"/>
              <a:t>29.05.2026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CH"/>
              <a:t>Raphael Probst | probsrap@students.zhaw.zh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22769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11F9101-D83E-48C2-BE87-67AC4D77A79D}" type="datetime1">
              <a:rPr lang="de-CH" smtClean="0"/>
              <a:t>29.05.2026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de-CH"/>
              <a:t>Raphael Probst | probsrap@students.zhaw.zh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583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8A15D-AF2C-4BDD-BAF2-20108AC0562F}" type="datetime1">
              <a:rPr lang="de-CH" smtClean="0"/>
              <a:t>29.05.2026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30872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D3992-ED22-4A65-AE02-9721882CD54F}" type="datetime1">
              <a:rPr lang="de-CH" smtClean="0"/>
              <a:t>29.05.2026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4183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B50F6-3DD1-43CC-B293-C59900F053C1}" type="datetime1">
              <a:rPr lang="de-CH" smtClean="0"/>
              <a:t>29.05.2026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CH"/>
              <a:t>Raphael Probst | probsrap@students.zhaw.zh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6583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3E5D910-9EA1-4449-9B9E-6E4EAD55C42B}" type="datetime1">
              <a:rPr lang="de-CH" smtClean="0"/>
              <a:t>29.05.2026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de-CH"/>
              <a:t>Raphael Probst | probsrap@students.zhaw.zh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6E16A37-2F06-4300-A23B-7C30D2F2E297}" type="slidenum">
              <a:rPr lang="de-CH" smtClean="0"/>
              <a:t>‹Nr.›</a:t>
            </a:fld>
            <a:endParaRPr lang="de-C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30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A1124-56B1-4756-C323-F3A313D71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9538" y="639097"/>
            <a:ext cx="6975231" cy="36860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6800" noProof="0" dirty="0"/>
              <a:t>Quantum Reservoir Computing on EEG Signals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FEC6FDD-F114-FF0A-EAD4-F8FFDDD6F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455621"/>
            <a:ext cx="6269347" cy="1238616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Project for the course Quantum Machine Learning</a:t>
            </a:r>
          </a:p>
          <a:p>
            <a:endParaRPr lang="en-GB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B30A98C-FE92-3B20-8319-8CBF5BB3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89753" y="6459785"/>
            <a:ext cx="4635314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GB" noProof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Raphael Probst | </a:t>
            </a:r>
            <a:r>
              <a:rPr lang="en-GB" noProof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probsrap@students.zhaw.zh</a:t>
            </a:r>
            <a:endParaRPr lang="en-GB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 descr="Ein Bild einer elektromagnetischen Strahlung">
            <a:extLst>
              <a:ext uri="{FF2B5EF4-FFF2-40B4-BE49-F238E27FC236}">
                <a16:creationId xmlns:a16="http://schemas.microsoft.com/office/drawing/2014/main" id="{CEE06FC6-D61F-EFB9-E046-5853D0C010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13" r="26802" b="2"/>
          <a:stretch>
            <a:fillRect/>
          </a:stretch>
        </p:blipFill>
        <p:spPr>
          <a:xfrm>
            <a:off x="-1" y="10"/>
            <a:ext cx="4635315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10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D1EED-B4C2-BF82-FD74-E46B5ADC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noProof="0" dirty="0" err="1"/>
              <a:t>MindBigData</a:t>
            </a:r>
            <a:endParaRPr lang="en-GB" noProof="0" dirty="0"/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03480753-2752-D38A-5400-4502F9DFDC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701777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301B31-FFDA-BAC8-9B7E-6FDD75DD1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Raphael Probst | </a:t>
            </a:r>
            <a:r>
              <a:rPr lang="en-GB" noProof="0" dirty="0" err="1"/>
              <a:t>probsrap@students.zhaw.zh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40208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B5C42D-E8BF-249C-3232-7BB66E323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DF7A0-1D5D-A8C2-7118-8085D71E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Reservoir &amp; Readout Setup</a:t>
            </a:r>
          </a:p>
        </p:txBody>
      </p:sp>
      <p:graphicFrame>
        <p:nvGraphicFramePr>
          <p:cNvPr id="6" name="Inhaltsplatzhalter 2">
            <a:extLst>
              <a:ext uri="{FF2B5EF4-FFF2-40B4-BE49-F238E27FC236}">
                <a16:creationId xmlns:a16="http://schemas.microsoft.com/office/drawing/2014/main" id="{3D7D7AF7-2807-6640-E1D1-058CE90A8C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6397092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2C511D-5397-8263-1956-EFC2354C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noProof="0" dirty="0"/>
              <a:t>Raphael Probst | </a:t>
            </a:r>
            <a:r>
              <a:rPr lang="en-GB" noProof="0" dirty="0" err="1"/>
              <a:t>probsrap@students.zhaw.zh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7656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ED700-B7F3-EDDE-1604-8DF645D61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GB" noProof="0" dirty="0"/>
              <a:t>Experimental Results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7038CAE-EE56-0D7D-2D52-BC8B212D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b="1" noProof="0" dirty="0"/>
              <a:t>Class Distribution:</a:t>
            </a:r>
            <a:r>
              <a:rPr lang="en-GB" noProof="0" dirty="0"/>
              <a:t> Visualizes the true vs. predicted classifications across all 5 cognitive intent classes (digits 0–4).</a:t>
            </a:r>
          </a:p>
          <a:p>
            <a:r>
              <a:rPr lang="en-GB" b="1" noProof="0" dirty="0"/>
              <a:t>Bias Detection:</a:t>
            </a:r>
            <a:r>
              <a:rPr lang="en-GB" noProof="0" dirty="0"/>
              <a:t> Highlights a clear prediction tendency towards classes 0 and 3, which helps explain the performance bottlenecks in chaotic raw EEG data.</a:t>
            </a:r>
          </a:p>
          <a:p>
            <a:r>
              <a:rPr lang="en-GB" b="1" noProof="0" dirty="0"/>
              <a:t>Model Validation:</a:t>
            </a:r>
            <a:r>
              <a:rPr lang="en-GB" noProof="0" dirty="0"/>
              <a:t> Accuracy remained close to the random guessing baseline.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5300B8F-878E-CAB1-BFA3-10DA32D56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GB" kern="1200" cap="all" baseline="0" noProof="0" dirty="0">
                <a:latin typeface="+mn-lt"/>
                <a:ea typeface="+mn-ea"/>
                <a:cs typeface="+mn-cs"/>
              </a:rPr>
              <a:t>Raphael Probst | </a:t>
            </a:r>
            <a:r>
              <a:rPr lang="en-GB" kern="1200" cap="all" baseline="0" noProof="0" dirty="0" err="1">
                <a:latin typeface="+mn-lt"/>
                <a:ea typeface="+mn-ea"/>
                <a:cs typeface="+mn-cs"/>
              </a:rPr>
              <a:t>probsrap@students.zhaw.zh</a:t>
            </a:r>
            <a:endParaRPr lang="en-GB" kern="1200" cap="all" baseline="0" noProof="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FAD4751-7D04-6879-C2FE-C97393FEC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69"/>
          <a:stretch>
            <a:fillRect/>
          </a:stretch>
        </p:blipFill>
        <p:spPr>
          <a:xfrm>
            <a:off x="8020570" y="2201321"/>
            <a:ext cx="3135109" cy="290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53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66C38AB-B9B3-B25B-EFCA-05D40119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605896"/>
            <a:ext cx="3084844" cy="5646208"/>
          </a:xfrm>
        </p:spPr>
        <p:txBody>
          <a:bodyPr anchor="ctr">
            <a:normAutofit/>
          </a:bodyPr>
          <a:lstStyle/>
          <a:p>
            <a:r>
              <a:rPr lang="en-GB" sz="3600" noProof="0" dirty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18BB23-20E0-15E6-9FEE-DFE7230DF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016" y="605896"/>
            <a:ext cx="6413663" cy="564620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noProof="0" dirty="0"/>
              <a:t>Hardware Limits &amp; Preprocessing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Raw, full-length EEG waveforms cannot be handled directly by current quantum systems because the required qubit count and circuit depth scale too rapidly.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While the 112 extracted features bypassed this bottleneck, close-to-baseline results indicate that mapping complex biological signals into Hilbert space requires more structured temporal embeddings.</a:t>
            </a:r>
          </a:p>
          <a:p>
            <a:pPr marL="0" indent="0">
              <a:buNone/>
            </a:pPr>
            <a:r>
              <a:rPr lang="en-GB" noProof="0" dirty="0"/>
              <a:t>Hybrid QRC Efficiency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Combining an untrained quantum reservoir mixer with a classical Ridge Classifier readout worked flawlessly from an execution standpoint.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noProof="0" dirty="0"/>
              <a:t>Bypasses expensive quantum gradient descent entirely, offering a highly efficient pipeline for streaming and processing large datasets.</a:t>
            </a:r>
          </a:p>
          <a:p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B0578E-CECF-3C35-38DE-51B6CFD0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42017" y="6459785"/>
            <a:ext cx="5105169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GB" noProof="0" dirty="0">
                <a:solidFill>
                  <a:schemeClr val="tx2"/>
                </a:solidFill>
              </a:rPr>
              <a:t>Raphael Probst | </a:t>
            </a:r>
            <a:r>
              <a:rPr lang="en-GB" noProof="0" dirty="0" err="1">
                <a:solidFill>
                  <a:schemeClr val="tx2"/>
                </a:solidFill>
              </a:rPr>
              <a:t>probsrap@students.zhaw.zh</a:t>
            </a:r>
            <a:endParaRPr lang="en-GB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021291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342</Words>
  <Application>Microsoft Office PowerPoint</Application>
  <PresentationFormat>Breitbild</PresentationFormat>
  <Paragraphs>36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Rückblick</vt:lpstr>
      <vt:lpstr>Quantum Reservoir Computing on EEG Signals</vt:lpstr>
      <vt:lpstr>MindBigData</vt:lpstr>
      <vt:lpstr>Reservoir &amp; Readout Setup</vt:lpstr>
      <vt:lpstr>Experimental Results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Probst Raphael (probsrap)</dc:creator>
  <cp:lastModifiedBy>Probst Raphael (probsrap)</cp:lastModifiedBy>
  <cp:revision>3</cp:revision>
  <dcterms:created xsi:type="dcterms:W3CDTF">2026-05-29T08:14:16Z</dcterms:created>
  <dcterms:modified xsi:type="dcterms:W3CDTF">2026-05-29T10:21:28Z</dcterms:modified>
</cp:coreProperties>
</file>